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9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Annual EV Sales (Millions)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 Sales (M)</c:v>
                </c:pt>
              </c:strCache>
            </c:strRef>
          </c:tx>
          <c:spPr>
            <a:solidFill>
              <a:srgbClr val="00C49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FY2022</c:v>
                  </c:pt>
                  <c:pt idx="1">
                    <c:v>FY2023</c:v>
                  </c:pt>
                  <c:pt idx="2">
                    <c:v>FY2024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0.27</c:v>
                </c:pt>
                <c:pt idx="1">
                  <c:v>0.78</c:v>
                </c:pt>
                <c:pt idx="2">
                  <c:v>1.02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B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B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2038"/>
        </a:solidFill>
        <a:ln>
          <a:noFill/>
        </a:ln>
        <a:effectLst/>
      </c:spPr>
    </c:plotArea>
    <c:plotVisOnly val="1"/>
    <c:dispBlanksAs val="span"/>
  </c:chart>
  <c:spPr>
    <a:solidFill>
      <a:srgbClr val="13203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Segment Mix by Units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C49A"/>
              </a:solidFill>
              <a:effectLst/>
            </c:spPr>
          </c:dPt>
          <c:dPt>
            <c:idx val="1"/>
            <c:bubble3D val="0"/>
            <c:spPr>
              <a:solidFill>
                <a:srgbClr val="F5A62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2-Wheelers</c:v>
                </c:pt>
                <c:pt idx="1">
                  <c:v>4-Wheelers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92.6</c:v>
                </c:pt>
                <c:pt idx="1">
                  <c:v>7.4</c:v>
                </c:pt>
              </c:numCache>
            </c:numRef>
          </c:val>
        </c:ser>
        <c:firstSliceAng val="0"/>
        <c:holeSize val="50"/>
      </c:doughnutChart>
      <c:spPr>
        <a:solidFill>
          <a:srgbClr val="132038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7A9BB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3203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2W Makers — FY2022 vs FY2024 (Thousand Units)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FY2022</c:v>
                </c:pt>
              </c:strCache>
            </c:strRef>
          </c:tx>
          <c:spPr>
            <a:solidFill>
              <a:srgbClr val="1A3A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Hero Electric</c:v>
                  </c:pt>
                  <c:pt idx="1">
                    <c:v>Ampere</c:v>
                  </c:pt>
                  <c:pt idx="2">
                    <c:v>Ather</c:v>
                  </c:pt>
                  <c:pt idx="3">
                    <c:v>TVS</c:v>
                  </c:pt>
                  <c:pt idx="4">
                    <c:v>OLA Electric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26</c:v>
                </c:pt>
                <c:pt idx="2">
                  <c:v>20</c:v>
                </c:pt>
                <c:pt idx="3">
                  <c:v>10</c:v>
                </c:pt>
                <c:pt idx="4">
                  <c:v>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FY2024</c:v>
                </c:pt>
              </c:strCache>
            </c:strRef>
          </c:tx>
          <c:spPr>
            <a:solidFill>
              <a:srgbClr val="00C4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Hero Electric</c:v>
                  </c:pt>
                  <c:pt idx="1">
                    <c:v>Ampere</c:v>
                  </c:pt>
                  <c:pt idx="2">
                    <c:v>Ather</c:v>
                  </c:pt>
                  <c:pt idx="3">
                    <c:v>TVS</c:v>
                  </c:pt>
                  <c:pt idx="4">
                    <c:v>OLA Electric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69</c:v>
                </c:pt>
                <c:pt idx="1">
                  <c:v>108</c:v>
                </c:pt>
                <c:pt idx="2">
                  <c:v>320</c:v>
                </c:pt>
                <c:pt idx="3">
                  <c:v>181</c:v>
                </c:pt>
                <c:pt idx="4">
                  <c:v>322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B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B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2038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7A9BB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32038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4W Maker CAGR — FY2022 → FY2024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CAGR %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MG Motor</c:v>
                  </c:pt>
                  <c:pt idx="1">
                    <c:v>Hyundai Motor</c:v>
                  </c:pt>
                  <c:pt idx="2">
                    <c:v>Mahindra</c:v>
                  </c:pt>
                  <c:pt idx="3">
                    <c:v>Tata Motors</c:v>
                  </c:pt>
                  <c:pt idx="4">
                    <c:v>BYD India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131.7</c:v>
                </c:pt>
                <c:pt idx="1">
                  <c:v>215.4</c:v>
                </c:pt>
                <c:pt idx="2">
                  <c:v>140.2</c:v>
                </c:pt>
                <c:pt idx="3">
                  <c:v>94.8</c:v>
                </c:pt>
                <c:pt idx="4">
                  <c:v>566.3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B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B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2038"/>
        </a:solidFill>
        <a:ln>
          <a:noFill/>
        </a:ln>
        <a:effectLst/>
      </c:spPr>
    </c:plotArea>
    <c:plotVisOnly val="1"/>
    <c:dispBlanksAs val="span"/>
  </c:chart>
  <c:spPr>
    <a:solidFill>
      <a:srgbClr val="132038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Volume — FY2022 vs FY2024 (K units)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FY2022</c:v>
                </c:pt>
              </c:strCache>
            </c:strRef>
          </c:tx>
          <c:spPr>
            <a:solidFill>
              <a:srgbClr val="1A3A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BYD</c:v>
                  </c:pt>
                  <c:pt idx="1">
                    <c:v>Hyundai</c:v>
                  </c:pt>
                  <c:pt idx="2">
                    <c:v>MG Motor</c:v>
                  </c:pt>
                  <c:pt idx="3">
                    <c:v>Mahindra</c:v>
                  </c:pt>
                  <c:pt idx="4">
                    <c:v>Tata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0.03</c:v>
                </c:pt>
                <c:pt idx="1">
                  <c:v>0.11</c:v>
                </c:pt>
                <c:pt idx="2">
                  <c:v>1.65</c:v>
                </c:pt>
                <c:pt idx="3">
                  <c:v>4.04</c:v>
                </c:pt>
                <c:pt idx="4">
                  <c:v>12.71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FY2024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BYD</c:v>
                  </c:pt>
                  <c:pt idx="1">
                    <c:v>Hyundai</c:v>
                  </c:pt>
                  <c:pt idx="2">
                    <c:v>MG Motor</c:v>
                  </c:pt>
                  <c:pt idx="3">
                    <c:v>Mahindra</c:v>
                  </c:pt>
                  <c:pt idx="4">
                    <c:v>Tata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1.47</c:v>
                </c:pt>
                <c:pt idx="1">
                  <c:v>0.37</c:v>
                </c:pt>
                <c:pt idx="2">
                  <c:v>8.83</c:v>
                </c:pt>
                <c:pt idx="3">
                  <c:v>23.35</c:v>
                </c:pt>
                <c:pt idx="4">
                  <c:v>48.18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B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B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2038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7A9BB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32038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Top 5 States — 2W Penetration FY2024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2W Penetration %</c:v>
                </c:pt>
              </c:strCache>
            </c:strRef>
          </c:tx>
          <c:spPr>
            <a:solidFill>
              <a:srgbClr val="00C49A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Chandigarh</c:v>
                  </c:pt>
                  <c:pt idx="1">
                    <c:v>Karnataka</c:v>
                  </c:pt>
                  <c:pt idx="2">
                    <c:v>Delhi</c:v>
                  </c:pt>
                  <c:pt idx="3">
                    <c:v>Kerala</c:v>
                  </c:pt>
                  <c:pt idx="4">
                    <c:v>Goa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9.22</c:v>
                </c:pt>
                <c:pt idx="1">
                  <c:v>11.57</c:v>
                </c:pt>
                <c:pt idx="2">
                  <c:v>9.4</c:v>
                </c:pt>
                <c:pt idx="3">
                  <c:v>10.2</c:v>
                </c:pt>
                <c:pt idx="4">
                  <c:v>17.99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B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B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2038"/>
        </a:solidFill>
        <a:ln>
          <a:noFill/>
        </a:ln>
        <a:effectLst/>
      </c:spPr>
    </c:plotArea>
    <c:plotVisOnly val="1"/>
    <c:dispBlanksAs val="span"/>
  </c:chart>
  <c:spPr>
    <a:solidFill>
      <a:srgbClr val="132038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Top 5 States — 4W Penetration FY2024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4W Penetration %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Karnataka</c:v>
                  </c:pt>
                  <c:pt idx="1">
                    <c:v>Goa</c:v>
                  </c:pt>
                  <c:pt idx="2">
                    <c:v>Chandigarh</c:v>
                  </c:pt>
                  <c:pt idx="3">
                    <c:v>Delhi</c:v>
                  </c:pt>
                  <c:pt idx="4">
                    <c:v>Kerala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4.26</c:v>
                </c:pt>
                <c:pt idx="1">
                  <c:v>3.5</c:v>
                </c:pt>
                <c:pt idx="2">
                  <c:v>4.5</c:v>
                </c:pt>
                <c:pt idx="3">
                  <c:v>4.29</c:v>
                </c:pt>
                <c:pt idx="4">
                  <c:v>5.76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B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B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2038"/>
        </a:solidFill>
        <a:ln>
          <a:noFill/>
        </a:ln>
        <a:effectLst/>
      </c:spPr>
    </c:plotArea>
    <c:plotVisOnly val="1"/>
    <c:dispBlanksAs val="span"/>
  </c:chart>
  <c:spPr>
    <a:solidFill>
      <a:srgbClr val="132038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Estimated Revenue FY2022–FY2024 (₹ Thousand Crore)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2-Wheelers</c:v>
                </c:pt>
              </c:strCache>
            </c:strRef>
          </c:tx>
          <c:spPr>
            <a:solidFill>
              <a:srgbClr val="00C49A"/>
            </a:solidFill>
            <a:effectLst/>
          </c:spPr>
          <c:invertIfNegative val="0"/>
          <c:dLbls>
            <c:numFmt formatCode="₹0.0&quot;K Cr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FY2022</c:v>
                  </c:pt>
                  <c:pt idx="1">
                    <c:v>FY2023</c:v>
                  </c:pt>
                  <c:pt idx="2">
                    <c:v>FY2024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2.1</c:v>
                </c:pt>
                <c:pt idx="1">
                  <c:v>6.2</c:v>
                </c:pt>
                <c:pt idx="2">
                  <c:v>7.9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4-Wheelers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₹0.0&quot;K Cr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FY2022</c:v>
                  </c:pt>
                  <c:pt idx="1">
                    <c:v>FY2023</c:v>
                  </c:pt>
                  <c:pt idx="2">
                    <c:v>FY2024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7.1</c:v>
                </c:pt>
                <c:pt idx="2">
                  <c:v>13</c:v>
                </c:pt>
              </c:numCache>
            </c:numRef>
          </c:val>
        </c:ser>
        <c:dLbls>
          <c:numFmt formatCode="₹0.0&quot;K Cr&quot;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B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B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2038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7A9BB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32038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Projected EV Sales 2030 — Top 10 States (Millions)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Projected EVs 2030</c:v>
                </c:pt>
              </c:strCache>
            </c:strRef>
          </c:tx>
          <c:spPr>
            <a:solidFill>
              <a:srgbClr val="00C49A"/>
            </a:solidFill>
            <a:effectLst/>
          </c:spPr>
          <c:invertIfNegative val="0"/>
          <c:dLbls>
            <c:numFmt formatCode="0.0&quot;M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Chandigarh</c:v>
                  </c:pt>
                  <c:pt idx="1">
                    <c:v>Puducherry</c:v>
                  </c:pt>
                  <c:pt idx="2">
                    <c:v>Goa</c:v>
                  </c:pt>
                  <c:pt idx="3">
                    <c:v>Chhattisgarh</c:v>
                  </c:pt>
                  <c:pt idx="4">
                    <c:v>Odisha</c:v>
                  </c:pt>
                  <c:pt idx="5">
                    <c:v>Kerala</c:v>
                  </c:pt>
                  <c:pt idx="6">
                    <c:v>Delhi</c:v>
                  </c:pt>
                  <c:pt idx="7">
                    <c:v>Tamil Nadu</c:v>
                  </c:pt>
                  <c:pt idx="8">
                    <c:v>Karnataka</c:v>
                  </c:pt>
                  <c:pt idx="9">
                    <c:v>Maharashtra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0.2</c:v>
                </c:pt>
                <c:pt idx="1">
                  <c:v>0.2</c:v>
                </c:pt>
                <c:pt idx="2">
                  <c:v>0.6</c:v>
                </c:pt>
                <c:pt idx="3">
                  <c:v>1.5</c:v>
                </c:pt>
                <c:pt idx="4">
                  <c:v>2.1</c:v>
                </c:pt>
                <c:pt idx="5">
                  <c:v>3.9</c:v>
                </c:pt>
                <c:pt idx="6">
                  <c:v>2.5</c:v>
                </c:pt>
                <c:pt idx="7">
                  <c:v>5</c:v>
                </c:pt>
                <c:pt idx="8">
                  <c:v>8.6</c:v>
                </c:pt>
                <c:pt idx="9">
                  <c:v>10.5</c:v>
                </c:pt>
              </c:numCache>
            </c:numRef>
          </c:val>
        </c:ser>
        <c:dLbls>
          <c:numFmt formatCode="0.0&quot;M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BB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9BB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2038"/>
        </a:solidFill>
        <a:ln>
          <a:noFill/>
        </a:ln>
        <a:effectLst/>
      </c:spPr>
    </c:plotArea>
    <c:plotVisOnly val="1"/>
    <c:dispBlanksAs val="span"/>
  </c:chart>
  <c:spPr>
    <a:solidFill>
      <a:srgbClr val="13203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716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C49A"/>
                </a:solidFill>
              </a:rPr>
              <a:t>STRATEGIC MARKET INTELLIGENCE  ·  FY2022 – FY2024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719072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Electric Vehicle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02920" y="2542032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Report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02920" y="33832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9BBF"/>
                </a:solidFill>
              </a:rPr>
              <a:t>2-Wheeler &amp; 4-Wheeler Segments  ·  State Penetration  ·  Revenue Trajectory  ·  2030 Outlook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663440"/>
            <a:ext cx="9144000" cy="4572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71830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49A"/>
                </a:solidFill>
              </a:rPr>
              <a:t>2M+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9377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F"/>
                </a:solidFill>
              </a:rPr>
              <a:t>EVs Sold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88920" y="471830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49A"/>
                </a:solidFill>
              </a:rPr>
              <a:t>93.91%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88920" y="49377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F"/>
                </a:solidFill>
              </a:rPr>
              <a:t>2-Yr CAGR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0" y="471830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49A"/>
                </a:solidFill>
              </a:rPr>
              <a:t>₹20,963Cr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49377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F"/>
                </a:solidFill>
              </a:rPr>
              <a:t>FY2024 Revenue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269480" y="471830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49A"/>
                </a:solidFill>
              </a:rPr>
              <a:t>4.81%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269480" y="49377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F"/>
                </a:solidFill>
              </a:rPr>
              <a:t>Penetration Rate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32038"/>
          </a:solidFill>
          <a:ln w="12700">
            <a:solidFill>
              <a:srgbClr val="1320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Executive Summary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C49A"/>
                </a:solidFill>
              </a:rPr>
              <a:t>3 headline findings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2788920" cy="4160520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04672"/>
            <a:ext cx="2788920" cy="54864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" y="1005840"/>
            <a:ext cx="502920" cy="502920"/>
          </a:xfrm>
          <a:prstGeom prst="rect">
            <a:avLst/>
          </a:prstGeom>
          <a:solidFill>
            <a:srgbClr val="00C49A">
              <a:alpha val="20000"/>
            </a:srgbClr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49A"/>
                </a:solidFill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0624" y="1609344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Market is Maturing, Not Stalling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20624" y="2176272"/>
            <a:ext cx="2487168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9BBF"/>
                </a:solidFill>
              </a:rPr>
              <a:t>2M+ EVs sold in 3 years. Growth decelerated from 186% (FY22→23) to 31.5% (FY23→24) — a natural maturation signal, not decline. 95 in every 100 vehicles sold is still non-electric, meaning the opportunity ahead dwarfs what has already been captured.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63824" y="804672"/>
            <a:ext cx="2788920" cy="4160520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63824" y="804672"/>
            <a:ext cx="27889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28416" y="1005840"/>
            <a:ext cx="502920" cy="502920"/>
          </a:xfrm>
          <a:prstGeom prst="rect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28416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28416" y="1609344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4-Wheelers: High Value, Low Competition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328416" y="2176272"/>
            <a:ext cx="2487168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9BBF"/>
                </a:solidFill>
              </a:rPr>
              <a:t>4W segment posted 116% CAGR vs 92% for 2W — and generates 62% of total EV revenue despite only 7.4% of units. The 2W segment is consolidating fast around OLA Electric. The 4W segment has no dominant player, making it the highest-quality entry point.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71616" y="804672"/>
            <a:ext cx="2788920" cy="4160520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71616" y="804672"/>
            <a:ext cx="2788920" cy="54864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36208" y="1005840"/>
            <a:ext cx="502920" cy="502920"/>
          </a:xfrm>
          <a:prstGeom prst="rect">
            <a:avLst/>
          </a:prstGeom>
          <a:solidFill>
            <a:srgbClr val="00C49A">
              <a:alpha val="20000"/>
            </a:srgbClr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49A"/>
                </a:solidFill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36208" y="1609344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Karnataka &amp; Maharashtra Lead — Organically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36208" y="2176272"/>
            <a:ext cx="2487168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9BBF"/>
                </a:solidFill>
              </a:rPr>
              <a:t>Karnataka outperforms Delhi on 2W penetration (11.57% vs 9.40%) despite Delhi's ₹30,000 direct subsidy. Organic, demand-led adoption is more durable than incentive-driven adoption. Maharashtra and Karnataka together represent 19M+ projected EVs by 2030.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32038"/>
          </a:solidFill>
          <a:ln w="12700">
            <a:solidFill>
              <a:srgbClr val="1320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Market Overview — Growth Trajectory &amp; Segment Mix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C49A"/>
                </a:solidFill>
              </a:rPr>
              <a:t>FY2022 – FY2024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786384"/>
            <a:ext cx="1627632" cy="914400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786384"/>
            <a:ext cx="1627632" cy="54864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859536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49A"/>
                </a:solidFill>
              </a:rPr>
              <a:t>2M+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56032" y="1298448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F"/>
                </a:solidFill>
              </a:rPr>
              <a:t>Total EVs Sold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93392" y="786384"/>
            <a:ext cx="1627632" cy="914400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93392" y="786384"/>
            <a:ext cx="1627632" cy="54864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3392" y="859536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49A"/>
                </a:solidFill>
              </a:rPr>
              <a:t>93.91%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993392" y="1298448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F"/>
                </a:solidFill>
              </a:rPr>
              <a:t>2-Year CAGR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30752" y="786384"/>
            <a:ext cx="1627632" cy="914400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30752" y="786384"/>
            <a:ext cx="1627632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30752" y="859536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</a:rPr>
              <a:t>186%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730752" y="1298448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F"/>
                </a:solidFill>
              </a:rPr>
              <a:t>Growth FY22→FY23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68112" y="786384"/>
            <a:ext cx="1627632" cy="914400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68112" y="786384"/>
            <a:ext cx="1627632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68112" y="859536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</a:rPr>
              <a:t>31.5%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68112" y="1298448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F"/>
                </a:solidFill>
              </a:rPr>
              <a:t>Growth FY23→FY24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05472" y="786384"/>
            <a:ext cx="1627632" cy="914400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205472" y="786384"/>
            <a:ext cx="1627632" cy="54864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05472" y="859536"/>
            <a:ext cx="1627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49A"/>
                </a:solidFill>
              </a:rPr>
              <a:t>4.81%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205472" y="1298448"/>
            <a:ext cx="1627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F"/>
                </a:solidFill>
              </a:rPr>
              <a:t>EV Penetration FY2024</a:t>
            </a:r>
            <a:endParaRPr lang="en-US" sz="9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256032" y="1874520"/>
          <a:ext cx="4114800" cy="29077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7" name="Chart 1" descr=""/>
          <p:cNvGraphicFramePr/>
          <p:nvPr/>
        </p:nvGraphicFramePr>
        <p:xfrm>
          <a:off x="4526280" y="1874520"/>
          <a:ext cx="2468880" cy="29077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Shape 24"/>
          <p:cNvSpPr/>
          <p:nvPr/>
        </p:nvSpPr>
        <p:spPr>
          <a:xfrm>
            <a:off x="7150608" y="1874520"/>
            <a:ext cx="1737360" cy="2907792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7150608" y="1874520"/>
            <a:ext cx="173736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150608" y="19476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Market Signal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7223760" y="2286000"/>
            <a:ext cx="16002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C49A"/>
                </a:solidFill>
              </a:rPr>
              <a:t>4x growth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 3 years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Deceleration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9BBF"/>
                </a:solidFill>
              </a:rPr>
              <a:t>186%→31%
is normal
maturation
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95%</a:t>
            </a:r>
            <a:pPr indent="0" marL="0">
              <a:buNone/>
            </a:pPr>
            <a:r>
              <a:rPr lang="en-US" sz="1000" dirty="0">
                <a:solidFill>
                  <a:srgbClr val="7A9BBF"/>
                </a:solidFill>
              </a:rPr>
              <a:t> of vehicles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9BBF"/>
                </a:solidFill>
              </a:rPr>
              <a:t>still ICE 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9BBF"/>
                </a:solidFill>
              </a:rPr>
              <a:t>upside intact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32038"/>
          </a:solidFill>
          <a:ln w="12700">
            <a:solidFill>
              <a:srgbClr val="1320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Seasonal Demand Patterns — When India Buys EVs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C49A"/>
                </a:solidFill>
              </a:rPr>
              <a:t>Monthly &amp; Quarterly Analysis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822960"/>
            <a:ext cx="5852160" cy="3703320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22960"/>
            <a:ext cx="5852160" cy="54864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932688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Monthly EV Sales Pattern  |  FY2022–FY2024 (Aggregated)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68296"/>
            <a:ext cx="393192" cy="1563624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968496"/>
            <a:ext cx="393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BBF"/>
                </a:solidFill>
              </a:rPr>
              <a:t>Jan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024128" y="2286000"/>
            <a:ext cx="393192" cy="164592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3968496"/>
            <a:ext cx="393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BBF"/>
                </a:solidFill>
              </a:rPr>
              <a:t>Feb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499616" y="1532276"/>
            <a:ext cx="393192" cy="2399644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99616" y="3968496"/>
            <a:ext cx="393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BBF"/>
                </a:solidFill>
              </a:rPr>
              <a:t>Mar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408176" y="1056788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49A"/>
                </a:solidFill>
              </a:rPr>
              <a:t>291K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00C49A"/>
                </a:solidFill>
              </a:rPr>
              <a:t>▲ PEAK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975104" y="2853842"/>
            <a:ext cx="393192" cy="1078078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75104" y="3968496"/>
            <a:ext cx="393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BBF"/>
                </a:solidFill>
              </a:rPr>
              <a:t>Apr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450592" y="2639873"/>
            <a:ext cx="393192" cy="1292047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50592" y="3968496"/>
            <a:ext cx="393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BBF"/>
                </a:solidFill>
              </a:rPr>
              <a:t>May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926080" y="3053748"/>
            <a:ext cx="393192" cy="87817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0" y="3968496"/>
            <a:ext cx="393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BBF"/>
                </a:solidFill>
              </a:rPr>
              <a:t>Jun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834640" y="2578260"/>
            <a:ext cx="594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3E3E"/>
                </a:solidFill>
              </a:rPr>
              <a:t>107K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E53E3E"/>
                </a:solidFill>
              </a:rPr>
              <a:t>▼ TROUGH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401568" y="2878531"/>
            <a:ext cx="393192" cy="1053389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01568" y="3968496"/>
            <a:ext cx="393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BBF"/>
                </a:solidFill>
              </a:rPr>
              <a:t>Jul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877056" y="2763317"/>
            <a:ext cx="393192" cy="1168603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77056" y="3968496"/>
            <a:ext cx="393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BBF"/>
                </a:solidFill>
              </a:rPr>
              <a:t>Aug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352544" y="2689250"/>
            <a:ext cx="393192" cy="124267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52544" y="3968496"/>
            <a:ext cx="393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BBF"/>
                </a:solidFill>
              </a:rPr>
              <a:t>Sep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828032" y="2368296"/>
            <a:ext cx="393192" cy="1563624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3968496"/>
            <a:ext cx="393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BBF"/>
                </a:solidFill>
              </a:rPr>
              <a:t>Oct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303520" y="2220163"/>
            <a:ext cx="393192" cy="1711757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0" y="3968496"/>
            <a:ext cx="393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BBF"/>
                </a:solidFill>
              </a:rPr>
              <a:t>Nov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779008" y="2425903"/>
            <a:ext cx="393192" cy="1506017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79008" y="3968496"/>
            <a:ext cx="3931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A9BBF"/>
                </a:solidFill>
              </a:rPr>
              <a:t>Dec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263640" y="804672"/>
            <a:ext cx="2651760" cy="1234440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63640" y="804672"/>
            <a:ext cx="2651760" cy="54864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914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9A"/>
                </a:solidFill>
              </a:rPr>
              <a:t>📅 March Peak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55080" y="1216152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BBF"/>
                </a:solidFill>
              </a:rPr>
              <a:t>291K units — fiscal year-end effect. Fleet purchases, subsidy deadlines, and dealer targets converge. 40% above second-highest month.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63640" y="2157984"/>
            <a:ext cx="2651760" cy="1234440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63640" y="2157984"/>
            <a:ext cx="2651760" cy="5486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22677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3E3E"/>
                </a:solidFill>
              </a:rPr>
              <a:t>🌧 June Trough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55080" y="2569464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BBF"/>
                </a:solidFill>
              </a:rPr>
              <a:t>107K units — monsoon onset. 63% below March. Lowest consumer sentiment for new vehicle purchases.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63640" y="3511296"/>
            <a:ext cx="2651760" cy="1234440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263640" y="3511296"/>
            <a:ext cx="265176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362102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🪔 Festive Season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355080" y="3922776"/>
            <a:ext cx="2468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BBF"/>
                </a:solidFill>
              </a:rPr>
              <a:t>Oct–Dec secondary peak driven by Navratri, Dussehra &amp; Diwali. Dealers push inventory; consumer willingness peaks.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56032" y="4206240"/>
            <a:ext cx="5852160" cy="640080"/>
          </a:xfrm>
          <a:prstGeom prst="rect">
            <a:avLst/>
          </a:prstGeom>
          <a:solidFill>
            <a:srgbClr val="0D2240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" y="425196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49A"/>
                </a:solidFill>
              </a:rPr>
              <a:t>⚡  Optimal Launch Timing: Build inventory Jul–Aug (low noise) → Dealer activation Sep → Festive push Oct → Peak campaign Feb–Mar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32038"/>
          </a:solidFill>
          <a:ln w="12700">
            <a:solidFill>
              <a:srgbClr val="1320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2-Wheeler Segment — Market Structure &amp; Competitive Dynamics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C49A"/>
                </a:solidFill>
              </a:rPr>
              <a:t>Maker Analysis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804672"/>
            <a:ext cx="4023360" cy="4114800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804672"/>
            <a:ext cx="4023360" cy="54864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8869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Market Leaders &amp; Laggards — FY2023 vs FY2024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243584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9BBF"/>
                </a:solidFill>
              </a:rPr>
              <a:t>Position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53312" y="1243584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9BBF"/>
                </a:solidFill>
              </a:rPr>
              <a:t>Maker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16352" y="1243584"/>
            <a:ext cx="603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9BBF"/>
                </a:solidFill>
              </a:rPr>
              <a:t>FY2023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0" y="1243584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9BBF"/>
                </a:solidFill>
              </a:rPr>
              <a:t>FY2024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" y="1636776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9A"/>
                </a:solidFill>
              </a:rPr>
              <a:t>#1 Top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53312" y="1636776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49A"/>
                </a:solidFill>
              </a:rPr>
              <a:t>OLA Electric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16352" y="1636776"/>
            <a:ext cx="603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49A"/>
                </a:solidFill>
              </a:rPr>
              <a:t>152,000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1636776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49A"/>
                </a:solidFill>
              </a:rPr>
              <a:t>322,000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" y="2029968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9A"/>
                </a:solidFill>
              </a:rPr>
              <a:t>#2 Top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53312" y="2029968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49A"/>
                </a:solidFill>
              </a:rPr>
              <a:t>TVS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16352" y="2029968"/>
            <a:ext cx="603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49A"/>
                </a:solidFill>
              </a:rPr>
              <a:t>45,000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0" y="202996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49A"/>
                </a:solidFill>
              </a:rPr>
              <a:t>181,000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" y="2423160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9A"/>
                </a:solidFill>
              </a:rPr>
              <a:t>#3 Top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53312" y="2423160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49A"/>
                </a:solidFill>
              </a:rPr>
              <a:t>Ather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16352" y="2423160"/>
            <a:ext cx="603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49A"/>
                </a:solidFill>
              </a:rPr>
              <a:t>64,000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0" y="2423160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49A"/>
                </a:solidFill>
              </a:rPr>
              <a:t>108,000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7472" y="3209544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</a:rPr>
              <a:t>#1 Bottom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353312" y="3209544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3E3E"/>
                </a:solidFill>
              </a:rPr>
              <a:t>Battré Electric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16352" y="3209544"/>
            <a:ext cx="603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3E3E"/>
                </a:solidFill>
              </a:rPr>
              <a:t>—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0" y="3209544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3E3E"/>
                </a:solidFill>
              </a:rPr>
              <a:t>4,841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3602736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</a:rPr>
              <a:t>#2 Bottom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353312" y="3602736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3E3E"/>
                </a:solidFill>
              </a:rPr>
              <a:t>Jitendra EV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816352" y="3602736"/>
            <a:ext cx="603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3E3E"/>
                </a:solidFill>
              </a:rPr>
              <a:t>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0" y="3602736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3E3E"/>
                </a:solidFill>
              </a:rPr>
              <a:t>8,000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7472" y="3995928"/>
            <a:ext cx="932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</a:rPr>
              <a:t>#3 Bottom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353312" y="3995928"/>
            <a:ext cx="13898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3E3E"/>
                </a:solidFill>
              </a:rPr>
              <a:t>Revolt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816352" y="3995928"/>
            <a:ext cx="6035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3E3E"/>
                </a:solidFill>
              </a:rPr>
              <a:t>—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474720" y="3995928"/>
            <a:ext cx="804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3E3E"/>
                </a:solidFill>
              </a:rPr>
              <a:t>11,000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7472" y="2688336"/>
            <a:ext cx="374904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256032" y="4617720"/>
            <a:ext cx="4023360" cy="457200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56032" y="4617720"/>
            <a:ext cx="402336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468172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A623"/>
                </a:solidFill>
              </a:rPr>
              <a:t>⚠  Market reshuffled entirely between FY23 &amp; FY24. Top 3 in FY2023 ≠ Top 3 in FY2024 — OLA accelerated away while Hero Electric and Okinawa collapsed.</a:t>
            </a:r>
            <a:endParaRPr lang="en-US" sz="900" dirty="0"/>
          </a:p>
        </p:txBody>
      </p:sp>
      <p:graphicFrame>
        <p:nvGraphicFramePr>
          <p:cNvPr id="41" name="Chart 0" descr=""/>
          <p:cNvGraphicFramePr/>
          <p:nvPr/>
        </p:nvGraphicFramePr>
        <p:xfrm>
          <a:off x="4434840" y="804672"/>
          <a:ext cx="4480560" cy="42702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32038"/>
          </a:solidFill>
          <a:ln w="12700">
            <a:solidFill>
              <a:srgbClr val="1320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4-Wheeler Segment — CAGR, Volume &amp; Competitive Landscape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5A623"/>
                </a:solidFill>
              </a:rPr>
              <a:t>Maker Analysis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786384"/>
            <a:ext cx="2057400" cy="868680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786384"/>
            <a:ext cx="20574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85039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</a:rPr>
              <a:t>153K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56032" y="1243584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F"/>
                </a:solidFill>
              </a:rPr>
              <a:t>Total 4W Units (3 Yrs)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50592" y="786384"/>
            <a:ext cx="2057400" cy="868680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786384"/>
            <a:ext cx="20574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85039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</a:rPr>
              <a:t>116.28%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50592" y="1243584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F"/>
                </a:solidFill>
              </a:rPr>
              <a:t>4W CAGR FY22→FY24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45152" y="786384"/>
            <a:ext cx="2057400" cy="868680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45152" y="786384"/>
            <a:ext cx="2057400" cy="54864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85039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49A"/>
                </a:solidFill>
              </a:rPr>
              <a:t>48,181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45152" y="1243584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F"/>
                </a:solidFill>
              </a:rPr>
              <a:t>Tata FY2024 Units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39712" y="786384"/>
            <a:ext cx="2057400" cy="868680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39712" y="786384"/>
            <a:ext cx="2057400" cy="5486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9712" y="85039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3E3E"/>
                </a:solidFill>
              </a:rPr>
              <a:t>566%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39712" y="1243584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F"/>
                </a:solidFill>
              </a:rPr>
              <a:t>BYD India CAGR*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6032" y="1719072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9BBF"/>
                </a:solidFill>
              </a:rPr>
              <a:t>* BYD started from only 33 units in FY2022 — high CAGR reflects small base, not volume parity</a:t>
            </a:r>
            <a:endParaRPr lang="en-US" sz="8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256032" y="1965960"/>
          <a:ext cx="45720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4" name="Chart 1" descr=""/>
          <p:cNvGraphicFramePr/>
          <p:nvPr/>
        </p:nvGraphicFramePr>
        <p:xfrm>
          <a:off x="4983480" y="1965960"/>
          <a:ext cx="39319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hape 21"/>
          <p:cNvSpPr/>
          <p:nvPr/>
        </p:nvSpPr>
        <p:spPr>
          <a:xfrm>
            <a:off x="256032" y="4864608"/>
            <a:ext cx="8659368" cy="256032"/>
          </a:xfrm>
          <a:prstGeom prst="rect">
            <a:avLst/>
          </a:prstGeom>
          <a:solidFill>
            <a:srgbClr val="0D2240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47472" y="4873752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3E3E"/>
                </a:solidFill>
              </a:rPr>
              <a:t>🔍  Watch Signal: BYD India grew from 33 → 1,466 units. Negligible today — but at this trajectory, they become a serious competitor in 3–5 years.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32038"/>
          </a:solidFill>
          <a:ln w="12700">
            <a:solidFill>
              <a:srgbClr val="1320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State Analysis — Where India Is Buying EVs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C49A"/>
                </a:solidFill>
              </a:rPr>
              <a:t>Penetration &amp; Priority Markets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786384"/>
            <a:ext cx="2057400" cy="868680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786384"/>
            <a:ext cx="2057400" cy="54864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832104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F"/>
                </a:solidFill>
              </a:rPr>
              <a:t>Top 2W State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6032" y="1033272"/>
            <a:ext cx="2057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49A"/>
                </a:solidFill>
              </a:rPr>
              <a:t>Goa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56032" y="1362456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F"/>
                </a:solidFill>
              </a:rPr>
              <a:t>17.99%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0592" y="786384"/>
            <a:ext cx="2057400" cy="868680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786384"/>
            <a:ext cx="20574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832104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F"/>
                </a:solidFill>
              </a:rPr>
              <a:t>Top 4W State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50592" y="1033272"/>
            <a:ext cx="2057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</a:rPr>
              <a:t>Kerala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450592" y="1362456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F"/>
                </a:solidFill>
              </a:rPr>
              <a:t>5.76%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45152" y="786384"/>
            <a:ext cx="2057400" cy="868680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45152" y="786384"/>
            <a:ext cx="2057400" cy="54864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832104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F"/>
                </a:solidFill>
              </a:rPr>
              <a:t>Highest 2W Vol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45152" y="1033272"/>
            <a:ext cx="2057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49A"/>
                </a:solidFill>
              </a:rPr>
              <a:t>Karnataka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645152" y="1362456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F"/>
                </a:solidFill>
              </a:rPr>
              <a:t>11.57%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39712" y="786384"/>
            <a:ext cx="2057400" cy="868680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39712" y="786384"/>
            <a:ext cx="20574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9712" y="832104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F"/>
                </a:solidFill>
              </a:rPr>
              <a:t>2nd Highest Vol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39712" y="1033272"/>
            <a:ext cx="20574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</a:rPr>
              <a:t>Delhi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839712" y="1362456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F"/>
                </a:solidFill>
              </a:rPr>
              <a:t>9.40%</a:t>
            </a:r>
            <a:endParaRPr lang="en-US" sz="9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256032" y="1828800"/>
          <a:ext cx="41605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7" name="Chart 1" descr=""/>
          <p:cNvGraphicFramePr/>
          <p:nvPr/>
        </p:nvGraphicFramePr>
        <p:xfrm>
          <a:off x="4572000" y="1828800"/>
          <a:ext cx="41605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Shape 24"/>
          <p:cNvSpPr/>
          <p:nvPr/>
        </p:nvSpPr>
        <p:spPr>
          <a:xfrm>
            <a:off x="256032" y="4251960"/>
            <a:ext cx="4160520" cy="640080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256032" y="4251960"/>
            <a:ext cx="4160520" cy="5486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47472" y="4325112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3E3E"/>
                </a:solidFill>
              </a:rPr>
              <a:t>States with Declining Penetration FY22→FY24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347472" y="45262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BBF"/>
                </a:solidFill>
              </a:rPr>
              <a:t>Andaman &amp; Nicobar (4W: -1.11pp)  ·  Ladakh (2W: -0.41pp)  |  Both are infrastructure-constrained UTs — not demand signals.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572000" y="4251960"/>
            <a:ext cx="4160520" cy="640080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4572000" y="4251960"/>
            <a:ext cx="4160520" cy="54864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663440" y="4325112"/>
            <a:ext cx="3977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9A"/>
                </a:solidFill>
              </a:rPr>
              <a:t>Priority Market Signal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4663440" y="45262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BBF"/>
                </a:solidFill>
              </a:rPr>
              <a:t>Goa, Kerala, Karnataka &amp; Delhi lead in BOTH 2W and 4W simultaneously — only 4 states achieve this dual-category leadership.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32038"/>
          </a:solidFill>
          <a:ln w="12700">
            <a:solidFill>
              <a:srgbClr val="1320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Policy vs Organic Demand — A Critical Distinction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C49A"/>
                </a:solidFill>
              </a:rPr>
              <a:t>Delhi vs Karnataka · FY2024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786384"/>
            <a:ext cx="4160520" cy="1600200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786384"/>
            <a:ext cx="4160520" cy="54864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86868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49A"/>
                </a:solidFill>
              </a:rPr>
              <a:t>Karnataka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" y="117043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F"/>
                </a:solidFill>
              </a:rPr>
              <a:t>Organic demand — Bengaluru tech economy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143560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2W: 11.57%   |   4W: 4.26%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" y="179222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BBF"/>
                </a:solidFill>
              </a:rPr>
              <a:t>No direct consumer purchase subsidy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27448" y="786384"/>
            <a:ext cx="4160520" cy="1600200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27448" y="786384"/>
            <a:ext cx="41605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86868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Delhi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18888" y="117043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BBF"/>
                </a:solidFill>
              </a:rPr>
              <a:t>Policy-led — Delhi EV Policy 2020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18888" y="143560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2W: 9.40%   |   4W: 4.29%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18888" y="179222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BBF"/>
                </a:solidFill>
              </a:rPr>
              <a:t>₹30,000 direct subsidy + road tax waiver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6032" y="2487168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BBF"/>
                </a:solidFill>
              </a:rPr>
              <a:t>2-Wheeler Penetration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" y="3255264"/>
            <a:ext cx="8686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BBF"/>
                </a:solidFill>
              </a:rPr>
              <a:t>4-Wheeler Penetration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463040" y="2633472"/>
            <a:ext cx="5440941" cy="27432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633472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Karnataka 2W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95421" y="263347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11.57%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463040" y="2944368"/>
            <a:ext cx="4420471" cy="274320"/>
          </a:xfrm>
          <a:prstGeom prst="rect">
            <a:avLst/>
          </a:prstGeom>
          <a:solidFill>
            <a:srgbClr val="2E6B8A"/>
          </a:solidFill>
          <a:ln w="12700">
            <a:solidFill>
              <a:srgbClr val="2E6B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2944368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Delhi 2W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74951" y="29443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463040" y="3401568"/>
            <a:ext cx="200332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3401568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Karnataka 4W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57800" y="34015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4.26%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463040" y="3712464"/>
            <a:ext cx="2017428" cy="274320"/>
          </a:xfrm>
          <a:prstGeom prst="rect">
            <a:avLst/>
          </a:prstGeom>
          <a:solidFill>
            <a:srgbClr val="8A6800"/>
          </a:solidFill>
          <a:ln w="12700">
            <a:solidFill>
              <a:srgbClr val="8A68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3712464"/>
            <a:ext cx="1170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Delhi 4W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571908" y="371246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4.29%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56032" y="3218688"/>
            <a:ext cx="8686800" cy="0"/>
          </a:xfrm>
          <a:prstGeom prst="line">
            <a:avLst/>
          </a:prstGeom>
          <a:noFill/>
          <a:ln w="12700">
            <a:solidFill>
              <a:srgbClr val="1A3A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6032" y="4206240"/>
            <a:ext cx="8659368" cy="640080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56032" y="4206240"/>
            <a:ext cx="8659368" cy="54864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427939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9A"/>
                </a:solidFill>
              </a:rPr>
              <a:t>Key Finding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508760" y="4261104"/>
            <a:ext cx="7315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BBF"/>
                </a:solidFill>
              </a:rPr>
              <a:t>Despite Delhi's aggressive ₹30,000 direct incentive — the most comprehensive state EV policy in India — Karnataka leads on 2W penetration. This proves that genuine demand, not subsidy, drives durable EV adoption. Karnataka is the stronger strategic market.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32038"/>
          </a:solidFill>
          <a:ln w="12700">
            <a:solidFill>
              <a:srgbClr val="1320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Revenue Trajectory — 4W Is Winning the Value War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5A623"/>
                </a:solidFill>
              </a:rPr>
              <a:t>Financial Analysis · Estimated Revenue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786384"/>
            <a:ext cx="2057400" cy="868680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786384"/>
            <a:ext cx="2057400" cy="54864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85039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49A"/>
                </a:solidFill>
              </a:rPr>
              <a:t>₹20,963 Cr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56032" y="1243584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F"/>
                </a:solidFill>
              </a:rPr>
              <a:t>Total Revenue FY2024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50592" y="786384"/>
            <a:ext cx="2057400" cy="868680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50592" y="786384"/>
            <a:ext cx="2057400" cy="54864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85039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49A"/>
                </a:solidFill>
              </a:rPr>
              <a:t>324.92%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50592" y="1243584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F"/>
                </a:solidFill>
              </a:rPr>
              <a:t>Revenue Growth FY22→FY24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45152" y="786384"/>
            <a:ext cx="2057400" cy="868680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45152" y="786384"/>
            <a:ext cx="20574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85039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</a:rPr>
              <a:t>269.28%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45152" y="1243584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F"/>
                </a:solidFill>
              </a:rPr>
              <a:t>2W Revenue Growth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39712" y="786384"/>
            <a:ext cx="2057400" cy="868680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39712" y="786384"/>
            <a:ext cx="20574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9712" y="85039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</a:rPr>
              <a:t>367.79%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839712" y="1243584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F"/>
                </a:solidFill>
              </a:rPr>
              <a:t>4W Revenue Growth</a:t>
            </a:r>
            <a:endParaRPr lang="en-US" sz="9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256032" y="182880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Shape 20"/>
          <p:cNvSpPr/>
          <p:nvPr/>
        </p:nvSpPr>
        <p:spPr>
          <a:xfrm>
            <a:off x="5440680" y="1828800"/>
            <a:ext cx="3474720" cy="896112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440680" y="1828800"/>
            <a:ext cx="34747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532120" y="19202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Phase Shift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532120" y="217627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F"/>
                </a:solidFill>
              </a:rPr>
              <a:t>4W overtook 2W revenue in FY2024 despite 12.5x fewer units sold. Unit economics dominate — a single 4W EV = 17.6x the revenue of one 2W.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440680" y="2816352"/>
            <a:ext cx="3474720" cy="896112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440680" y="2816352"/>
            <a:ext cx="3474720" cy="54864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532120" y="29077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9A"/>
                </a:solidFill>
              </a:rPr>
              <a:t>Delayed Wave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532120" y="316382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F"/>
                </a:solidFill>
              </a:rPr>
              <a:t>2W led revenue growth FY22→23 (188%). But 4W surged FY23→24 (83% vs 28%). The 4W market had a delayed but far stronger second acceleration.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440680" y="3803904"/>
            <a:ext cx="3474720" cy="896112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440680" y="3803904"/>
            <a:ext cx="34747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532120" y="389534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Revenue Mix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532120" y="4151376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F"/>
                </a:solidFill>
              </a:rPr>
              <a:t>4W now generates 62% of total EV revenue from only 7.4% of units. Selling fewer, higher-value vehicles creates a superior margin profile.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256032" y="484632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A9BBF"/>
                </a:solidFill>
              </a:rPr>
              <a:t>* Revenue estimated at assumed average prices: 2W = ₹85,000  |  4W = ₹15,00,000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32038"/>
          </a:solidFill>
          <a:ln w="12700">
            <a:solidFill>
              <a:srgbClr val="1320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2030 Outlook — Projected EV Sales by State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C49A"/>
                </a:solidFill>
              </a:rPr>
              <a:t>Based on FY2022–FY2024 CAGR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56032" y="804672"/>
          <a:ext cx="50292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440680" y="804672"/>
            <a:ext cx="3474720" cy="1207008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40680" y="804672"/>
            <a:ext cx="3474720" cy="54864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32120" y="89611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9A"/>
                </a:solidFill>
              </a:rPr>
              <a:t>Tier 1  —  Primary Markets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532120" y="115214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Maharashtra (10.5M)  ·  Karnataka (8.6M)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32120" y="142646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F"/>
                </a:solidFill>
              </a:rPr>
              <a:t>Combine high CAGR with large absolute market. First-mover advantage is most valuable here.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440680" y="2130552"/>
            <a:ext cx="3474720" cy="1207008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40680" y="2130552"/>
            <a:ext cx="34747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32120" y="22219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</a:rPr>
              <a:t>Tier 2  —  High-Growth Watch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532120" y="247802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Tamil Nadu (5.0M)  ·  Kerala (3.9M)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532120" y="275234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F"/>
                </a:solidFill>
              </a:rPr>
              <a:t>Strong EV culture + government support. Near-term follow-on markets after Tier 1 entry.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440680" y="3456432"/>
            <a:ext cx="3474720" cy="1207008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40680" y="3456432"/>
            <a:ext cx="3474720" cy="54864"/>
          </a:xfrm>
          <a:prstGeom prst="rect">
            <a:avLst/>
          </a:prstGeom>
          <a:solidFill>
            <a:srgbClr val="7A9BBF"/>
          </a:solidFill>
          <a:ln w="12700">
            <a:solidFill>
              <a:srgbClr val="7A9BB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32120" y="354787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BBF"/>
                </a:solidFill>
              </a:rPr>
              <a:t>Tier 3  —  Monitor Only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532120" y="38039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Delhi (2.5M)  ·  Odisha (2.1M)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532120" y="407822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F"/>
                </a:solidFill>
              </a:rPr>
              <a:t>Policy-led — projections sensitive to subsidy changes. Enter only after organic demand firms up.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56032" y="4828032"/>
            <a:ext cx="8659368" cy="274320"/>
          </a:xfrm>
          <a:prstGeom prst="rect">
            <a:avLst/>
          </a:prstGeom>
          <a:solidFill>
            <a:srgbClr val="0D22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7472" y="4837176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BBF"/>
                </a:solidFill>
              </a:rPr>
              <a:t>⚠  Assumes constant CAGR from FY2022–2024. Actual numbers will be lower as markets mature — use as directional sizing, not hard forecast.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32038"/>
          </a:solidFill>
          <a:ln w="12700">
            <a:solidFill>
              <a:srgbClr val="1320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Strategic Recommendations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0"/>
            <a:ext cx="2011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5A623"/>
                </a:solidFill>
              </a:rPr>
              <a:t>3 Pillars of Market Entry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786384"/>
            <a:ext cx="2651760" cy="3840480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786384"/>
            <a:ext cx="265176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896112"/>
            <a:ext cx="694944" cy="694944"/>
          </a:xfrm>
          <a:prstGeom prst="ellipse">
            <a:avLst/>
          </a:prstGeom>
          <a:solidFill>
            <a:srgbClr val="F5A623">
              <a:alpha val="2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89611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93192" y="169164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⚡ Prioritise the 4-Wheeler Segment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3192" y="225856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7A9BBF"/>
                </a:solidFill>
              </a:rPr>
              <a:t>116% CAGR vs 92% for 2W — faster growth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93192" y="267004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7A9BBF"/>
                </a:solidFill>
              </a:rPr>
              <a:t>62% of total revenue from only 7.4% of units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93192" y="30815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7A9BBF"/>
                </a:solidFill>
              </a:rPr>
              <a:t>No dominant player — Tata leads but at 48K units, far from monopoly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93192" y="349300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7A9BBF"/>
                </a:solidFill>
              </a:rPr>
              <a:t>2W market consolidating around OLA; no entry point for newcomers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93192" y="390448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7A9BBF"/>
                </a:solidFill>
              </a:rPr>
              <a:t>Every 4W EV generates 17.6× the revenue of a 2W EV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45536" y="786384"/>
            <a:ext cx="2651760" cy="3840480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45536" y="786384"/>
            <a:ext cx="2651760" cy="54864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23944" y="896112"/>
            <a:ext cx="694944" cy="694944"/>
          </a:xfrm>
          <a:prstGeom prst="ellipse">
            <a:avLst/>
          </a:prstGeom>
          <a:solidFill>
            <a:srgbClr val="00C49A">
              <a:alpha val="25000"/>
            </a:srgbClr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23944" y="89611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C49A"/>
                </a:solidFill>
              </a:rPr>
              <a:t>02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282696" y="169164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📍 Enter Karnataka, Then Maharashtra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82696" y="225856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9A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7A9BBF"/>
                </a:solidFill>
              </a:rPr>
              <a:t>Karnataka: organic demand, tech-economy buyer, 11.57% 2W penetration without subsidies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82696" y="267004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9A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7A9BBF"/>
                </a:solidFill>
              </a:rPr>
              <a:t>Maharashtra: largest absolute market — 10.5M EVs projected by 2030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82696" y="30815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9A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7A9BBF"/>
                </a:solidFill>
              </a:rPr>
              <a:t>Both combine high CAGR with large base — best risk-adjusted entry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82696" y="349300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9A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7A9BBF"/>
                </a:solidFill>
              </a:rPr>
              <a:t>Tamil Nadu &amp; Kerala as Phase 2 expansion after establishing foothold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82696" y="390448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49A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7A9BBF"/>
                </a:solidFill>
              </a:rPr>
              <a:t>Avoid leading with Delhi — policy-driven demand is subsidy-dependent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35040" y="786384"/>
            <a:ext cx="2651760" cy="3840480"/>
          </a:xfrm>
          <a:prstGeom prst="rect">
            <a:avLst/>
          </a:prstGeom>
          <a:solidFill>
            <a:srgbClr val="132038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786384"/>
            <a:ext cx="265176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13448" y="896112"/>
            <a:ext cx="694944" cy="694944"/>
          </a:xfrm>
          <a:prstGeom prst="ellipse">
            <a:avLst/>
          </a:prstGeom>
          <a:solidFill>
            <a:srgbClr val="F5A623">
              <a:alpha val="25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13448" y="89611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623"/>
                </a:solidFill>
              </a:rPr>
              <a:t>03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172200" y="169164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📅 Time Entry Around Market Rhythms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72200" y="225856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7A9BBF"/>
                </a:solidFill>
              </a:rPr>
              <a:t>Launch in Oct for festive season — maximum consumer intent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72200" y="267004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7A9BBF"/>
                </a:solidFill>
              </a:rPr>
              <a:t>Peak March surge: activate fleet &amp; corporate channels Feb–Mar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72200" y="308152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7A9BBF"/>
                </a:solidFill>
              </a:rPr>
              <a:t>Avoid May–June launch (monsoon trough — 63% below peak)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72200" y="349300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7A9BBF"/>
                </a:solidFill>
              </a:rPr>
              <a:t>Build dealer/service network Jul–Aug (low-noise period)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72200" y="390448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A623"/>
                </a:solidFill>
              </a:rPr>
              <a:t>▸ </a:t>
            </a:r>
            <a:pPr indent="0" marL="0">
              <a:buNone/>
            </a:pPr>
            <a:r>
              <a:rPr lang="en-US" sz="950" dirty="0">
                <a:solidFill>
                  <a:srgbClr val="7A9BBF"/>
                </a:solidFill>
              </a:rPr>
              <a:t>Watch BYD India — 1,466 units now; potential credible competitor by 2027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709160"/>
            <a:ext cx="9144000" cy="45720"/>
          </a:xfrm>
          <a:prstGeom prst="rect">
            <a:avLst/>
          </a:prstGeom>
          <a:solidFill>
            <a:srgbClr val="00C49A"/>
          </a:solidFill>
          <a:ln w="12700">
            <a:solidFill>
              <a:srgbClr val="00C4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4754880"/>
            <a:ext cx="91440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9A"/>
                </a:solidFill>
              </a:rPr>
              <a:t>The 4W segment offers the highest risk-adjusted return — first movers will define the next decade of India's EV market.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 EV Market — Executive Intelligence Report</dc:title>
  <dc:subject>PptxGenJS Presentation</dc:subject>
  <dc:creator>PptxGenJS</dc:creator>
  <cp:lastModifiedBy>PptxGenJS</cp:lastModifiedBy>
  <cp:revision>1</cp:revision>
  <dcterms:created xsi:type="dcterms:W3CDTF">2026-03-10T11:15:34Z</dcterms:created>
  <dcterms:modified xsi:type="dcterms:W3CDTF">2026-03-10T11:15:34Z</dcterms:modified>
</cp:coreProperties>
</file>